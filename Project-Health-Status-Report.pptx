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" panose="020B0604020202020204" charset="0"/>
      <p:regular r:id="rId14"/>
    </p:embeddedFont>
    <p:embeddedFont>
      <p:font typeface="Roboto Bold" panose="020B0604020202020204" charset="0"/>
      <p:regular r:id="rId15"/>
    </p:embeddedFont>
    <p:embeddedFont>
      <p:font typeface="Host Grotesk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BD3D"/>
    <a:srgbClr val="0090A4"/>
    <a:srgbClr val="009BB0"/>
    <a:srgbClr val="7ABC32"/>
    <a:srgbClr val="FDDBDB"/>
    <a:srgbClr val="DFF7F5"/>
    <a:srgbClr val="DCF9F8"/>
    <a:srgbClr val="CFF5F5"/>
    <a:srgbClr val="FCD0D0"/>
    <a:srgbClr val="D6F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689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2.svg"/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2.svg"/><Relationship Id="rId11" Type="http://schemas.openxmlformats.org/officeDocument/2006/relationships/image" Target="../media/image8.png"/><Relationship Id="rId5" Type="http://schemas.openxmlformats.org/officeDocument/2006/relationships/image" Target="../media/image-6-2.svg"/><Relationship Id="rId10" Type="http://schemas.openxmlformats.org/officeDocument/2006/relationships/image" Target="../media/image-6-2.svg"/><Relationship Id="rId4" Type="http://schemas.openxmlformats.org/officeDocument/2006/relationships/image" Target="../media/image-6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2.svg"/><Relationship Id="rId5" Type="http://schemas.openxmlformats.org/officeDocument/2006/relationships/image" Target="../media/image-7-2.svg"/><Relationship Id="rId4" Type="http://schemas.openxmlformats.org/officeDocument/2006/relationships/image" Target="../media/image-7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1107976"/>
            <a:ext cx="2104179" cy="251420"/>
          </a:xfrm>
          <a:prstGeom prst="roundRect">
            <a:avLst>
              <a:gd name="adj" fmla="val 22103"/>
            </a:avLst>
          </a:prstGeom>
          <a:solidFill>
            <a:srgbClr val="D9EDF2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1157585"/>
            <a:ext cx="251533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9BB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PTB-STS-001 | MONTH 10 OF 24</a:t>
            </a:r>
            <a:endParaRPr lang="en-US" sz="1000" dirty="0">
              <a:solidFill>
                <a:srgbClr val="009BB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142547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00A5C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Health &amp; Status Report</a:t>
            </a:r>
            <a:endParaRPr lang="en-US" sz="3800" dirty="0">
              <a:solidFill>
                <a:srgbClr val="00A5CC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2190254"/>
            <a:ext cx="723561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Pole Trust Bank | AI Banking Transformation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61475" y="3864670"/>
            <a:ext cx="6296860" cy="1885355"/>
          </a:xfrm>
          <a:prstGeom prst="roundRect">
            <a:avLst>
              <a:gd name="adj" fmla="val 36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3871020"/>
            <a:ext cx="3142080" cy="936327"/>
          </a:xfrm>
          <a:custGeom>
            <a:avLst/>
            <a:gdLst/>
            <a:ahLst/>
            <a:cxnLst/>
            <a:rect l="l" t="t" r="r" b="b"/>
            <a:pathLst>
              <a:path w="3142080" h="936327">
                <a:moveTo>
                  <a:pt x="57887" y="0"/>
                </a:moveTo>
                <a:lnTo>
                  <a:pt x="3142080" y="0"/>
                </a:lnTo>
                <a:lnTo>
                  <a:pt x="3142080" y="936327"/>
                </a:lnTo>
                <a:lnTo>
                  <a:pt x="0" y="936327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9" name="Text 6"/>
          <p:cNvSpPr/>
          <p:nvPr/>
        </p:nvSpPr>
        <p:spPr>
          <a:xfrm>
            <a:off x="833119" y="4036318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90A4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Reporting Period</a:t>
            </a:r>
            <a:endParaRPr lang="en-US" sz="1600" dirty="0">
              <a:solidFill>
                <a:srgbClr val="0090A4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33119" y="4394002"/>
            <a:ext cx="281149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 10 of 24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09905" y="3871020"/>
            <a:ext cx="3142080" cy="936327"/>
          </a:xfrm>
          <a:custGeom>
            <a:avLst/>
            <a:gdLst/>
            <a:ahLst/>
            <a:cxnLst/>
            <a:rect l="l" t="t" r="r" b="b"/>
            <a:pathLst>
              <a:path w="3142080" h="936327">
                <a:moveTo>
                  <a:pt x="0" y="0"/>
                </a:moveTo>
                <a:lnTo>
                  <a:pt x="3084193" y="0"/>
                </a:lnTo>
                <a:arcTo wR="57887" hR="57888" stAng="16200000" swAng="5400000"/>
                <a:lnTo>
                  <a:pt x="3142080" y="936327"/>
                </a:lnTo>
                <a:lnTo>
                  <a:pt x="0" y="936327"/>
                </a:lnTo>
                <a:lnTo>
                  <a:pt x="0" y="0"/>
                </a:lnTo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12" name="Shape 9"/>
          <p:cNvSpPr/>
          <p:nvPr/>
        </p:nvSpPr>
        <p:spPr>
          <a:xfrm>
            <a:off x="3809905" y="3871020"/>
            <a:ext cx="19050" cy="936327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13" name="Text 10"/>
          <p:cNvSpPr/>
          <p:nvPr/>
        </p:nvSpPr>
        <p:spPr>
          <a:xfrm>
            <a:off x="3975199" y="4036318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90A4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Overall RAG Status</a:t>
            </a:r>
            <a:endParaRPr lang="en-US" sz="1600" dirty="0">
              <a:solidFill>
                <a:srgbClr val="0090A4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975199" y="4394002"/>
            <a:ext cx="281149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AMBER — LAGGING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825" y="4807347"/>
            <a:ext cx="6284160" cy="936327"/>
          </a:xfrm>
          <a:custGeom>
            <a:avLst/>
            <a:gdLst/>
            <a:ahLst/>
            <a:cxnLst/>
            <a:rect l="l" t="t" r="r" b="b"/>
            <a:pathLst>
              <a:path w="6284160" h="936327">
                <a:moveTo>
                  <a:pt x="0" y="0"/>
                </a:moveTo>
                <a:lnTo>
                  <a:pt x="6284160" y="0"/>
                </a:lnTo>
                <a:lnTo>
                  <a:pt x="6284160" y="878439"/>
                </a:lnTo>
                <a:arcTo wR="57887" hR="57888" stAng="0" swAng="5400000"/>
                <a:lnTo>
                  <a:pt x="57887" y="936327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825" y="480734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17" name="Text 14"/>
          <p:cNvSpPr/>
          <p:nvPr/>
        </p:nvSpPr>
        <p:spPr>
          <a:xfrm>
            <a:off x="833119" y="4972645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Reported To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3119" y="5330329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Sponsor &amp; Executive Steering Committee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920"/>
            <a:ext cx="1092669" cy="163413"/>
          </a:xfrm>
          <a:prstGeom prst="roundRect">
            <a:avLst>
              <a:gd name="adj" fmla="val 2210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25965" y="563166"/>
            <a:ext cx="1573272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DASHBOARD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22213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At a Glance — Month 10 of 24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1162943"/>
            <a:ext cx="1147833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EVM indicators define the project's Month 10 health. Schedule and cost performance are in the red zone. Two amber signals require immediate Sponsor attention.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4823" y="1428254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40%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661475" y="1889125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Progress Earned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2098873"/>
            <a:ext cx="5390717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Planned: 50% | </a:t>
            </a:r>
            <a:r>
              <a:rPr lang="en-US" sz="1000" dirty="0">
                <a:solidFill>
                  <a:srgbClr val="D9770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 gap on critical path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82851" y="1428254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0.80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6139503" y="1889125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Schedule 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9503" y="2098873"/>
            <a:ext cx="5390717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SPI = 0.80 | SV = −10% | </a:t>
            </a:r>
            <a:r>
              <a:rPr lang="en-US" sz="1000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 behind critical path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4823" y="2425303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0.89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661475" y="2886174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 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3095923"/>
            <a:ext cx="5390717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CPI = 0.89 | CV = −12% | </a:t>
            </a:r>
            <a:r>
              <a:rPr lang="en-US" sz="1000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12% over phase budget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2851" y="2425303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$11.5M</a:t>
            </a:r>
            <a:endParaRPr lang="en-US" sz="2750" dirty="0"/>
          </a:p>
        </p:txBody>
      </p:sp>
      <p:sp>
        <p:nvSpPr>
          <p:cNvPr id="16" name="Text 14"/>
          <p:cNvSpPr/>
          <p:nvPr/>
        </p:nvSpPr>
        <p:spPr>
          <a:xfrm>
            <a:off x="6139503" y="2886174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CAPEX Budget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39503" y="3095923"/>
            <a:ext cx="5390717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TCO: $27.5M | </a:t>
            </a:r>
            <a:r>
              <a:rPr lang="en-US" sz="1000" dirty="0">
                <a:solidFill>
                  <a:srgbClr val="D9770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DEC-02 funding pending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86138"/>
            <a:ext cx="4532398" cy="286226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02873" y="3377406"/>
            <a:ext cx="363359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10% Gap — Stated Plainly</a:t>
            </a:r>
            <a:endParaRPr lang="en-US" sz="1200" b="1" dirty="0"/>
          </a:p>
        </p:txBody>
      </p:sp>
      <p:sp>
        <p:nvSpPr>
          <p:cNvPr id="20" name="Text 17"/>
          <p:cNvSpPr/>
          <p:nvPr/>
        </p:nvSpPr>
        <p:spPr>
          <a:xfrm>
            <a:off x="7902873" y="3615134"/>
            <a:ext cx="3633597" cy="399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Planned: 50%. Earned: 40%. The 10% shortfall is a schedule variance that compounds across the zero-slack critical path. Every week of delay flows one-for-one to the D7 completion date.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02873" y="4333009"/>
            <a:ext cx="3633597" cy="312241"/>
          </a:xfrm>
          <a:prstGeom prst="roundRect">
            <a:avLst>
              <a:gd name="adj" fmla="val 14461"/>
            </a:avLst>
          </a:prstGeom>
          <a:solidFill>
            <a:srgbClr val="D9EDF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325" y="4437188"/>
            <a:ext cx="134339" cy="10745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252115" y="4422609"/>
            <a:ext cx="378649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Bad news stated plainly. Sponsor decisions fund recovery.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3713"/>
            <a:ext cx="847406" cy="152995"/>
          </a:xfrm>
          <a:prstGeom prst="roundRect">
            <a:avLst>
              <a:gd name="adj" fmla="val 2213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21898" y="523875"/>
            <a:ext cx="1336145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&amp; ROADMAP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671215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Scope — 7 Deliverables, 48 Work Packages, 24 Months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1059837"/>
            <a:ext cx="11478330" cy="121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Seven sequential deliverables (D1–D7) form a zero-slack critical path. D2 and D3 carry active delays — each week of slippage flows one-for-one to D7. No float exists on this chain.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0604"/>
            <a:ext cx="6626158" cy="37272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8849" y="5176148"/>
            <a:ext cx="5456696" cy="1298873"/>
          </a:xfrm>
          <a:prstGeom prst="roundRect">
            <a:avLst>
              <a:gd name="adj" fmla="val 5587"/>
            </a:avLst>
          </a:prstGeom>
          <a:solidFill>
            <a:srgbClr val="64B8CE"/>
          </a:solidFill>
          <a:ln/>
        </p:spPr>
      </p:sp>
      <p:sp>
        <p:nvSpPr>
          <p:cNvPr id="8" name="Text 5"/>
          <p:cNvSpPr/>
          <p:nvPr/>
        </p:nvSpPr>
        <p:spPr>
          <a:xfrm>
            <a:off x="689553" y="5231412"/>
            <a:ext cx="5255287" cy="66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4FB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Critical Path Warning</a:t>
            </a:r>
            <a:endParaRPr lang="en-US" sz="1200" dirty="0"/>
          </a:p>
          <a:p>
            <a:pPr marL="171450" indent="-171450" algn="l">
              <a:lnSpc>
                <a:spcPct val="101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4F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D1 to D7 = Zero-slack critical path. Every D2 slip flows one-for-one to D7. </a:t>
            </a:r>
            <a:endParaRPr lang="en-US" sz="1100" dirty="0" smtClean="0">
              <a:solidFill>
                <a:srgbClr val="F4FBF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171450" indent="-171450" algn="l">
              <a:lnSpc>
                <a:spcPct val="101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F4F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D2 </a:t>
            </a:r>
            <a:r>
              <a:rPr lang="en-US" sz="1100" dirty="0">
                <a:solidFill>
                  <a:srgbClr val="F4F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D3 delays have already consumed the schedule float. </a:t>
            </a:r>
            <a:endParaRPr lang="en-US" sz="1100" dirty="0" smtClean="0">
              <a:solidFill>
                <a:srgbClr val="F4FBF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171450" indent="-171450" algn="l">
              <a:lnSpc>
                <a:spcPct val="101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F4F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</a:t>
            </a:r>
            <a:r>
              <a:rPr lang="en-US" sz="1100" dirty="0">
                <a:solidFill>
                  <a:srgbClr val="F4F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 is possible without Sponsor-approved intervention.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2500" y="5176148"/>
            <a:ext cx="5456696" cy="1298873"/>
          </a:xfrm>
          <a:prstGeom prst="roundRect">
            <a:avLst>
              <a:gd name="adj" fmla="val 5587"/>
            </a:avLst>
          </a:prstGeom>
          <a:solidFill>
            <a:srgbClr val="DFF7F5"/>
          </a:solidFill>
          <a:ln/>
        </p:spPr>
      </p:sp>
      <p:sp>
        <p:nvSpPr>
          <p:cNvPr id="10" name="Text 7"/>
          <p:cNvSpPr/>
          <p:nvPr/>
        </p:nvSpPr>
        <p:spPr>
          <a:xfrm>
            <a:off x="6253205" y="5231412"/>
            <a:ext cx="5255287" cy="118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9B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Scope &amp; Budget Reference</a:t>
            </a:r>
            <a:endParaRPr lang="en-US" sz="1200" dirty="0">
              <a:solidFill>
                <a:srgbClr val="009BB0"/>
              </a:solidFill>
            </a:endParaRP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Scope Document: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PTB-SCOPE-001</a:t>
            </a:r>
            <a:endParaRPr lang="en-US" sz="11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CAPEX Envelope: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USD 11.5M</a:t>
            </a:r>
            <a:endParaRPr lang="en-US" sz="11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 Cost of Ownership: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USD 27.5M</a:t>
            </a:r>
            <a:endParaRPr lang="en-US" sz="11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Work Packages: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48 across 7 deliverables</a:t>
            </a:r>
            <a:endParaRPr lang="en-US" sz="11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Program Duration: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24 months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6645"/>
            <a:ext cx="1135034" cy="188516"/>
          </a:xfrm>
          <a:prstGeom prst="roundRect">
            <a:avLst>
              <a:gd name="adj" fmla="val 22109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653852"/>
            <a:ext cx="1595794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MILESTONE TRACKER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4236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Milestone Tracker — What's On Track, What's Not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69516"/>
            <a:ext cx="10868745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</a:t>
            </a:r>
            <a:r>
              <a:rPr lang="en-US" sz="11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milestones define 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program's critical path. M0 and M1 are approved and closed. M2 and M3 are red — delayed by approximately 2 to 3 months. M4 is amber and at risk of slipping if D2/D3 recovery does not accelerate immediately.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9498" y="1799530"/>
            <a:ext cx="12700" cy="3548459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7" name="Shape 5"/>
          <p:cNvSpPr/>
          <p:nvPr/>
        </p:nvSpPr>
        <p:spPr>
          <a:xfrm>
            <a:off x="5596938" y="1932682"/>
            <a:ext cx="372061" cy="12700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8" name="Shape 6"/>
          <p:cNvSpPr/>
          <p:nvPr/>
        </p:nvSpPr>
        <p:spPr>
          <a:xfrm>
            <a:off x="5956300" y="1799530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02783" y="1822748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1842095"/>
            <a:ext cx="481417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M0 — Schedule Baseline Approved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2091630"/>
            <a:ext cx="4814172" cy="38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9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0" indent="0" algn="r">
              <a:lnSpc>
                <a:spcPct val="10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formally approved. Schedule governance active.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2695" y="2614811"/>
            <a:ext cx="372061" cy="12700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56300" y="2481659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2783" y="2504877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16048" y="2524224"/>
            <a:ext cx="481417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M1 — Charter &amp; Funding Gate (End M02)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16048" y="2773759"/>
            <a:ext cx="4814172" cy="38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Charter signed. Funding gate cleared. Program authorized.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938" y="3225205"/>
            <a:ext cx="372061" cy="12700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56300" y="3092053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2783" y="3115270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1475" y="3134618"/>
            <a:ext cx="481417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M2 — Foundation Accepted / D2 (End M04)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1475" y="3384153"/>
            <a:ext cx="4814172" cy="38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9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0" indent="0" algn="r">
              <a:lnSpc>
                <a:spcPct val="10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&amp; vendor gaps not resolved in time. Foundation acceptance delayed.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22695" y="3835698"/>
            <a:ext cx="372061" cy="12700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56300" y="3702546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2783" y="3725763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716048" y="3745111"/>
            <a:ext cx="481417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M3 — Copilot Pilot Live / D3 (End M07)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6048" y="3994646"/>
            <a:ext cx="4814172" cy="38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D2 delay cascaded to D3. Copilot pilot launch pushed back.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96938" y="4446191"/>
            <a:ext cx="372061" cy="12700"/>
          </a:xfrm>
          <a:prstGeom prst="roundRect">
            <a:avLst>
              <a:gd name="adj" fmla="val 49999"/>
            </a:avLst>
          </a:prstGeom>
          <a:solidFill>
            <a:srgbClr val="BFD3D8"/>
          </a:solidFill>
          <a:ln/>
        </p:spPr>
      </p:sp>
      <p:sp>
        <p:nvSpPr>
          <p:cNvPr id="28" name="Shape 26"/>
          <p:cNvSpPr/>
          <p:nvPr/>
        </p:nvSpPr>
        <p:spPr>
          <a:xfrm>
            <a:off x="5956300" y="4313039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2783" y="4336256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61475" y="4355604"/>
            <a:ext cx="481417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M4 — Customer Assistant Pilot / D4 (End M11)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1475" y="4605139"/>
            <a:ext cx="4814172" cy="38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9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0" indent="0" algn="r">
              <a:lnSpc>
                <a:spcPct val="109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Contingent on D2/D3 recovery. Slippage risk is active.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2180" y="5452566"/>
            <a:ext cx="5461657" cy="788789"/>
          </a:xfrm>
          <a:prstGeom prst="roundRect">
            <a:avLst>
              <a:gd name="adj" fmla="val 11323"/>
            </a:avLst>
          </a:prstGeom>
          <a:solidFill>
            <a:srgbClr val="FDDBDB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01" y="5545534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910D0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6201" y="5832277"/>
            <a:ext cx="5213616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 D2 start — data gaps and vendor onboarding not resolved in time. D3 is single-threaded with no parallel path. Slip flows 1-for-1 on the zero-slack critical path.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64208" y="5452566"/>
            <a:ext cx="5461657" cy="788789"/>
          </a:xfrm>
          <a:prstGeom prst="roundRect">
            <a:avLst>
              <a:gd name="adj" fmla="val 11323"/>
            </a:avLst>
          </a:prstGeom>
          <a:solidFill>
            <a:srgbClr val="7ABC32"/>
          </a:solidFill>
          <a:ln/>
        </p:spPr>
      </p:sp>
      <p:sp>
        <p:nvSpPr>
          <p:cNvPr id="36" name="Text 34"/>
          <p:cNvSpPr/>
          <p:nvPr/>
        </p:nvSpPr>
        <p:spPr>
          <a:xfrm>
            <a:off x="6288228" y="5545534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Recovery Action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88228" y="5832277"/>
            <a:ext cx="5213616" cy="32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Crash D2/D3 schedules. Parallelize activities. Enforce COTS-First sourcing. Accelerate specialist staffing. Rebaseline via CR-002 with Sponsor approval.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9623"/>
            <a:ext cx="1588452" cy="206772"/>
          </a:xfrm>
          <a:prstGeom prst="roundRect">
            <a:avLst>
              <a:gd name="adj" fmla="val 22130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43130" y="520402"/>
            <a:ext cx="2034727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&amp; EVM PERFORMANCE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31242"/>
            <a:ext cx="1086874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Budget Performance — Earned Value Management Deep Dive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325066"/>
            <a:ext cx="10868745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 10 EVM data confirms cost pressure. CPI at 0.89 means the project receives 89 cents of earned value per dollar spent. CV at −12% confirms a USD 1.38M cost overrun against phase budget. Contingency is being consumed faster than planned.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49748"/>
            <a:ext cx="3525849" cy="28375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48134" y="1949748"/>
            <a:ext cx="3138111" cy="982365"/>
          </a:xfrm>
          <a:prstGeom prst="roundRect">
            <a:avLst>
              <a:gd name="adj" fmla="val 582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90608" y="2092226"/>
            <a:ext cx="285316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 Variance (CV)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90608" y="2417167"/>
            <a:ext cx="2853162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−12% | EV minus AC is negative | Over budget by phase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98359" y="1949748"/>
            <a:ext cx="3138111" cy="982365"/>
          </a:xfrm>
          <a:prstGeom prst="roundRect">
            <a:avLst>
              <a:gd name="adj" fmla="val 582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0834" y="2092226"/>
            <a:ext cx="285316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 Performance Index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40834" y="2417167"/>
            <a:ext cx="2853162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CPI = 0.89 | Getting 89 cents per dollar spent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48134" y="3044230"/>
            <a:ext cx="6388337" cy="796131"/>
          </a:xfrm>
          <a:prstGeom prst="roundRect">
            <a:avLst>
              <a:gd name="adj" fmla="val 7185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0608" y="3186708"/>
            <a:ext cx="610338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Contingency Status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90608" y="3511649"/>
            <a:ext cx="6103388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Early-burn flag active | Consumed faster than planned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3449" y="5039519"/>
            <a:ext cx="5464336" cy="1338759"/>
          </a:xfrm>
          <a:prstGeom prst="roundRect">
            <a:avLst>
              <a:gd name="adj" fmla="val 7324"/>
            </a:avLst>
          </a:prstGeom>
          <a:solidFill>
            <a:srgbClr val="FDDBDB"/>
          </a:solidFill>
          <a:ln/>
        </p:spPr>
      </p:sp>
      <p:sp>
        <p:nvSpPr>
          <p:cNvPr id="17" name="Text 14"/>
          <p:cNvSpPr/>
          <p:nvPr/>
        </p:nvSpPr>
        <p:spPr>
          <a:xfrm>
            <a:off x="699574" y="5151636"/>
            <a:ext cx="5192087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910D0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Root Cause — Cost Pressure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9574" y="5476577"/>
            <a:ext cx="5192087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Heavier D2/D3 specialist effort than planned. Extended vendor procurement windows. Early contingency draw. All variances remain within the USD 11.5M CAPEX / USD 27.5M TCO envelope — but trajectory requires intervention.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0260" y="5039519"/>
            <a:ext cx="5464336" cy="1338759"/>
          </a:xfrm>
          <a:prstGeom prst="roundRect">
            <a:avLst>
              <a:gd name="adj" fmla="val 7324"/>
            </a:avLst>
          </a:prstGeom>
          <a:solidFill>
            <a:srgbClr val="86BD3D"/>
          </a:solidFill>
          <a:ln/>
        </p:spPr>
      </p:sp>
      <p:sp>
        <p:nvSpPr>
          <p:cNvPr id="20" name="Text 17"/>
          <p:cNvSpPr/>
          <p:nvPr/>
        </p:nvSpPr>
        <p:spPr>
          <a:xfrm>
            <a:off x="6306384" y="5151636"/>
            <a:ext cx="5192087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Recovery Actions — Cost Control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306384" y="5430397"/>
            <a:ext cx="5192087" cy="862509"/>
          </a:xfrm>
          <a:prstGeom prst="rect">
            <a:avLst/>
          </a:prstGeom>
          <a:noFill/>
          <a:ln/>
        </p:spPr>
        <p:txBody>
          <a:bodyPr wrap="square" lIns="0" tIns="54476" rIns="0" bIns="0" rtlCol="0" anchor="t">
            <a:normAutofit/>
          </a:bodyPr>
          <a:lstStyle/>
          <a:p>
            <a:pPr marL="213360" indent="-21336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DEC-02 funding release to unlock phase budget</a:t>
            </a:r>
            <a:endParaRPr lang="en-US" sz="110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CR-002 rebaseline to reset EVM baselines</a:t>
            </a:r>
            <a:endParaRPr lang="en-US" sz="110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COTS-First sourcing to reduce specialist dependency</a:t>
            </a:r>
            <a:endParaRPr lang="en-US" sz="1100" dirty="0">
              <a:solidFill>
                <a:schemeClr val="bg1"/>
              </a:solidFill>
            </a:endParaRPr>
          </a:p>
          <a:p>
            <a:pPr marL="213360" indent="-21336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CPI tracking with CFO, Sponsor, PM, Finance, PMO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2642"/>
            <a:ext cx="1002382" cy="227509"/>
          </a:xfrm>
          <a:prstGeom prst="roundRect">
            <a:avLst>
              <a:gd name="adj" fmla="val 22117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51266" y="547489"/>
            <a:ext cx="1432385" cy="137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REGISTER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84324"/>
            <a:ext cx="10868745" cy="467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Risks &amp; Issues — What's Fired, What's Rising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455638"/>
            <a:ext cx="10868745" cy="4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active risks span the program. Two are red and require immediate action. Three are amber and under active monitoring. Every risk has an owner, an action, and a decision route to the Sponsor.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35969"/>
            <a:ext cx="3532496" cy="174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6440" y="2204740"/>
            <a:ext cx="311876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262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RED</a:t>
            </a: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Integration Failure (D2) — FIRED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6440" y="2754015"/>
            <a:ext cx="3118764" cy="85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and data profiling gaps threaten D2 delivery. Front-load profiling activities. Decision deadline: </a:t>
            </a:r>
            <a:r>
              <a:rPr lang="en-US" sz="11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DEC-10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Owner: Tech Lead | Action Owner: Data Architect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9500" y="2035969"/>
            <a:ext cx="3532595" cy="1742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4465" y="2204740"/>
            <a:ext cx="311886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262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RED</a:t>
            </a: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Vendor / Platform Slip — RISING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574465" y="2754015"/>
            <a:ext cx="3118863" cy="85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vendor delays compound D2 schedule risk. Early sourcing required. Sponsor decision needed: </a:t>
            </a:r>
            <a:r>
              <a:rPr lang="en-US" sz="11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DEC-07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Owner: Procurement | Action Owner: Vendor Manager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7625" y="2035969"/>
            <a:ext cx="3532595" cy="1742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42590" y="2204740"/>
            <a:ext cx="311886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9770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AMBER</a:t>
            </a: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Staff / Capacity Gap — RISING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242590" y="2754015"/>
            <a:ext cx="3118863" cy="85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Specialist AI and data roles remain unfilled. Role appointments required by </a:t>
            </a:r>
            <a:r>
              <a:rPr lang="en-US" sz="11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DEC-05 / DEC-06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Owner: HR Partner | Action Owner: Project Manager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13981"/>
            <a:ext cx="3532496" cy="1742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6440" y="4082752"/>
            <a:ext cx="311876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9770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AMBER</a:t>
            </a: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Hallucination / Model Risk — MONITORING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906440" y="4632027"/>
            <a:ext cx="3118764" cy="85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output accuracy risk in Copilot and Customer Assistant. Retrieval controls and pilot gates active. Owner: AI Quality Lead | Action Owner: Model Governance Team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9500" y="3913981"/>
            <a:ext cx="3532595" cy="1742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4465" y="4082752"/>
            <a:ext cx="311886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9770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AMBER</a:t>
            </a: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Regulatory Concern — MONITORING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574465" y="4632027"/>
            <a:ext cx="3118863" cy="85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compliance evidence requirements evolving. Compliance evidence pack due: </a:t>
            </a:r>
            <a:r>
              <a:rPr lang="en-US" sz="11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DEC-09</a:t>
            </a: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Owner: Compliance Officer | Action Owner: Legal &amp; Compliance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61475" y="5808960"/>
            <a:ext cx="10868745" cy="546298"/>
          </a:xfrm>
          <a:prstGeom prst="roundRect">
            <a:avLst>
              <a:gd name="adj" fmla="val 11513"/>
            </a:avLst>
          </a:prstGeom>
          <a:solidFill>
            <a:srgbClr val="D9EDF2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192" y="5996880"/>
            <a:ext cx="187122" cy="14972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8031" y="5981898"/>
            <a:ext cx="10842056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Every risk has an owner, an action, and a decision route to the Sponsor.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0704"/>
            <a:ext cx="2030262" cy="238820"/>
          </a:xfrm>
          <a:prstGeom prst="roundRect">
            <a:avLst>
              <a:gd name="adj" fmla="val 22106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757833"/>
            <a:ext cx="2451336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SPONSOR DECISIONS REQUIRED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09154"/>
            <a:ext cx="10868745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Sponsor Decisions Required — Three Calls, One Board Meeting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2214860"/>
            <a:ext cx="10868745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Sponsor decisions are required to authorize recovery. Each has a defined decision reference, an owner, and a deadline. No scope is added — funding and rebaseline authority flow through CR-002.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42320"/>
            <a:ext cx="3523368" cy="2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05290" y="2946499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584" y="3481884"/>
            <a:ext cx="3171150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DEC-01 — Record Effective Start Date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7584" y="4062512"/>
            <a:ext cx="3171150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Formally record the program's effective start date. Baseline for all EVM calculations depends on this authorization.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4064" y="2842320"/>
            <a:ext cx="3523467" cy="23154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7979" y="2946499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10173" y="3481884"/>
            <a:ext cx="31712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DEC-02 — Release Phase Funding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10173" y="3816945"/>
            <a:ext cx="3171250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phase funding to unlock D2/D3 recovery. Implemented via </a:t>
            </a:r>
            <a:r>
              <a:rPr lang="en-US" sz="12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CR-002 / PTB-CHG-001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Contingency draw and specialist staffing depend on this release.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6753" y="2842320"/>
            <a:ext cx="3523368" cy="23154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50568" y="2946499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182862" y="3481884"/>
            <a:ext cx="3171150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DEC-03 — Delegate PM Authority to Salman Zaman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82862" y="4062512"/>
            <a:ext cx="3171150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Formally delegate Program Manager authority to Salman Zaman. Recovery execution requires clear, authorized leadership.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61475" y="5325666"/>
            <a:ext cx="10868745" cy="821531"/>
          </a:xfrm>
          <a:prstGeom prst="roundRect">
            <a:avLst>
              <a:gd name="adj" fmla="val 8033"/>
            </a:avLst>
          </a:prstGeom>
          <a:solidFill>
            <a:srgbClr val="64B8C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534" y="5535315"/>
            <a:ext cx="196349" cy="1570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1943" y="5514082"/>
            <a:ext cx="10201218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AF9F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Funding &amp; rebaseline authority flows through CR-002 — the CCB-approved change-control firewall. No scope is added. Funding + rebaseline only. Baseline moves only through an approved CR.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1119</Words>
  <Application>Microsoft Office PowerPoint</Application>
  <PresentationFormat>Widescreen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Roboto</vt:lpstr>
      <vt:lpstr>Arial</vt:lpstr>
      <vt:lpstr>Roboto Bold</vt:lpstr>
      <vt:lpstr>Host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HAROON TRADERS</cp:lastModifiedBy>
  <cp:revision>8</cp:revision>
  <dcterms:created xsi:type="dcterms:W3CDTF">2026-08-22T10:11:40Z</dcterms:created>
  <dcterms:modified xsi:type="dcterms:W3CDTF">2026-08-22T12:42:00Z</dcterms:modified>
</cp:coreProperties>
</file>