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Alexandria Medium" panose="020B0604020202020204" charset="-78"/>
      <p:regular r:id="rId14"/>
    </p:embeddedFont>
    <p:embeddedFont>
      <p:font typeface="Manrope" panose="020B0604020202020204" charset="0"/>
      <p:regular r:id="rId15"/>
    </p:embeddedFont>
    <p:embeddedFont>
      <p:font typeface="Manrope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C234"/>
    <a:srgbClr val="09A1E5"/>
    <a:srgbClr val="FF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80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image" Target="../media/image-3-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11.png"/><Relationship Id="rId4" Type="http://schemas.openxmlformats.org/officeDocument/2006/relationships/image" Target="../media/image-4-2.svg"/><Relationship Id="rId9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517180"/>
            <a:ext cx="6296860" cy="403622"/>
          </a:xfrm>
          <a:prstGeom prst="roundRect">
            <a:avLst>
              <a:gd name="adj" fmla="val 49172"/>
            </a:avLst>
          </a:prstGeom>
          <a:solidFill>
            <a:srgbClr val="CDEFFE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2566789"/>
            <a:ext cx="6098427" cy="304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POLE TRUST BANK (PTB)-CHANGE REQUEST (CR)-001 | CHANGE REQUEST (CR)-002 | STATUS: FOR CHANGE CONTROL BOARD (CCB) DECISION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98688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Change Control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3569692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Pole Trust Bank (PTB) | AI Banking Transformation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4076204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Decision Authority:</a:t>
            </a: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Project Sponsor — Sheikh Moeen Akhtar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6298"/>
            <a:ext cx="10868745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kern="0" spc="-2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Change Control Firewall — How Pole Trust Bank (PTB) Protects Its Baseline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507629"/>
            <a:ext cx="10868745" cy="1031180"/>
          </a:xfrm>
          <a:prstGeom prst="roundRect">
            <a:avLst>
              <a:gd name="adj" fmla="val 18044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513979"/>
            <a:ext cx="3618616" cy="1018480"/>
          </a:xfrm>
          <a:custGeom>
            <a:avLst/>
            <a:gdLst/>
            <a:ahLst/>
            <a:cxnLst/>
            <a:rect l="l" t="t" r="r" b="b"/>
            <a:pathLst>
              <a:path w="3618616" h="1018480">
                <a:moveTo>
                  <a:pt x="155054" y="0"/>
                </a:moveTo>
                <a:lnTo>
                  <a:pt x="3618616" y="0"/>
                </a:lnTo>
                <a:lnTo>
                  <a:pt x="3618616" y="1018480"/>
                </a:lnTo>
                <a:lnTo>
                  <a:pt x="155054" y="1018480"/>
                </a:lnTo>
                <a:arcTo wR="155054" hR="155058" stAng="5400000" swAng="5400000"/>
                <a:lnTo>
                  <a:pt x="0" y="155058"/>
                </a:lnTo>
                <a:arcTo wR="155054" hR="155058" stAng="10800000" swAng="5400000"/>
                <a:close/>
              </a:path>
            </a:pathLst>
          </a:custGeom>
          <a:solidFill>
            <a:srgbClr val="FFDDDD"/>
          </a:solidFill>
          <a:ln>
            <a:solidFill>
              <a:srgbClr val="FFDDDD"/>
            </a:solidFill>
          </a:ln>
        </p:spPr>
      </p:sp>
      <p:sp>
        <p:nvSpPr>
          <p:cNvPr id="5" name="Text 3"/>
          <p:cNvSpPr/>
          <p:nvPr/>
        </p:nvSpPr>
        <p:spPr>
          <a:xfrm>
            <a:off x="791845" y="1638002"/>
            <a:ext cx="337057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C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Without Change Control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91845" y="1887538"/>
            <a:ext cx="337057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Unapproved scope creep. Cost overruns. Timeline slippage. No audit trail. No accountability.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286440" y="1513979"/>
            <a:ext cx="3618715" cy="1018480"/>
          </a:xfrm>
          <a:prstGeom prst="rect">
            <a:avLst/>
          </a:prstGeom>
          <a:solidFill>
            <a:srgbClr val="09A1E5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1513979"/>
            <a:ext cx="12700" cy="1018480"/>
          </a:xfrm>
          <a:prstGeom prst="roundRect">
            <a:avLst>
              <a:gd name="adj" fmla="val 49999"/>
            </a:avLst>
          </a:prstGeom>
          <a:solidFill>
            <a:srgbClr val="3D8ABC"/>
          </a:solidFill>
          <a:ln/>
        </p:spPr>
      </p:sp>
      <p:sp>
        <p:nvSpPr>
          <p:cNvPr id="9" name="Text 7"/>
          <p:cNvSpPr/>
          <p:nvPr/>
        </p:nvSpPr>
        <p:spPr>
          <a:xfrm>
            <a:off x="4410461" y="1638002"/>
            <a:ext cx="337067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Firewall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0461" y="1887538"/>
            <a:ext cx="3370674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Written submission. Unique ID. Impact assessed. Change Control Board (CCB) decides. Decision logged. Baseline updated only after approval.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05155" y="1513979"/>
            <a:ext cx="3618715" cy="1018480"/>
          </a:xfrm>
          <a:custGeom>
            <a:avLst/>
            <a:gdLst/>
            <a:ahLst/>
            <a:cxnLst/>
            <a:rect l="l" t="t" r="r" b="b"/>
            <a:pathLst>
              <a:path w="3618715" h="1018480">
                <a:moveTo>
                  <a:pt x="0" y="0"/>
                </a:moveTo>
                <a:lnTo>
                  <a:pt x="3463661" y="0"/>
                </a:lnTo>
                <a:arcTo wR="155054" hR="155058" stAng="16200000" swAng="5400000"/>
                <a:lnTo>
                  <a:pt x="3618715" y="863422"/>
                </a:lnTo>
                <a:arcTo wR="155054" hR="155058" stAng="0" swAng="5400000"/>
                <a:lnTo>
                  <a:pt x="0" y="1018480"/>
                </a:lnTo>
                <a:lnTo>
                  <a:pt x="0" y="0"/>
                </a:lnTo>
                <a:close/>
              </a:path>
            </a:pathLst>
          </a:custGeom>
          <a:solidFill>
            <a:srgbClr val="7EC234"/>
          </a:solidFill>
          <a:ln/>
        </p:spPr>
      </p:sp>
      <p:sp>
        <p:nvSpPr>
          <p:cNvPr id="12" name="Shape 10"/>
          <p:cNvSpPr/>
          <p:nvPr/>
        </p:nvSpPr>
        <p:spPr>
          <a:xfrm>
            <a:off x="7905155" y="1513979"/>
            <a:ext cx="12700" cy="1018480"/>
          </a:xfrm>
          <a:prstGeom prst="roundRect">
            <a:avLst>
              <a:gd name="adj" fmla="val 49999"/>
            </a:avLst>
          </a:prstGeom>
          <a:solidFill>
            <a:srgbClr val="379D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29176" y="1638002"/>
            <a:ext cx="3370674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29176" y="1887538"/>
            <a:ext cx="3370674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Traceable baseline. Documented decisions. Protected delivery. Governance accountability.</a:t>
            </a:r>
            <a:endParaRPr lang="en-US" sz="10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2643386"/>
            <a:ext cx="8151509" cy="36682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247956" y="3003447"/>
            <a:ext cx="1426493" cy="220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Raised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658773" y="5644386"/>
            <a:ext cx="1434331" cy="44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 Assessed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053914" y="2755568"/>
            <a:ext cx="1426493" cy="661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Control Board (CCB) Decides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464731" y="5754610"/>
            <a:ext cx="1426493" cy="220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Logged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9180"/>
            <a:ext cx="10868745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3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Change Reaches the Change Control Board (CCB) Without Full Impact Assessment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2019498"/>
            <a:ext cx="1086874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Change Control Board (CCB) change request must include a verified five-dimension impact assessment under Pole Trust Bank Change Control (PTB-CHG-001). It gives the Change Control Board (CCB) the factual basis needed for a defensible decision. Each dimension maps to a baseline document and evidence source.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922885"/>
            <a:ext cx="314218" cy="314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423642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Scope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61475" y="3758704"/>
            <a:ext cx="3498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added or removed from PTB-SCOPE-001.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346565" y="2922885"/>
            <a:ext cx="314218" cy="3142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6565" y="3423642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Schedule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46565" y="3758704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 on the critical path, milestones, and roadmap.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8031656" y="2922885"/>
            <a:ext cx="314218" cy="3142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1656" y="3423642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Cost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31656" y="3758704"/>
            <a:ext cx="349856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Impact on budget, contingency, and Capital Expenditure/Operating Expenditure (CAPEX/OPEX).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4792662"/>
            <a:ext cx="314218" cy="3142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5293420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Risk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61475" y="5628481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New risks, changed triggers, and updated ownership.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346565" y="4792662"/>
            <a:ext cx="314218" cy="3142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46565" y="5293420"/>
            <a:ext cx="3498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Benefit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4346565" y="5628481"/>
            <a:ext cx="349856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Effect on value-to-cost ratio, Key Performance Indicators (KPIs), and Net Present Value (NPV).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566"/>
            <a:ext cx="10868745" cy="81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Request CR-002 — Live Change Request | FOR Change Control Board (CCB) DECISION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661475" y="1480641"/>
            <a:ext cx="2523268" cy="197743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4" name="Text 2"/>
          <p:cNvSpPr/>
          <p:nvPr/>
        </p:nvSpPr>
        <p:spPr>
          <a:xfrm>
            <a:off x="739558" y="1519634"/>
            <a:ext cx="2976686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FUNDING + REBASELINE ONLY — NO SCOPE ADDED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793776"/>
            <a:ext cx="10868745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Change Request CR-002 is a live change request under Pole Trust Bank Change Management Procedure (PTB-CHG-001). It seeks DEC-02 funding release and a controlled schedule rebaseline based on Pole Trust Bank Status Report (PTB-STS-001) Earned Value Management (EVM) variances. No new scope, deliverable changes, or Work Breakdown Structure (WBS) changes are included. The six cards below are the full Change Request CR-002 record for Change Control Board (CCB) review.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467868"/>
            <a:ext cx="10868745" cy="7814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064" y="273645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03900" y="2617093"/>
            <a:ext cx="1007709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ID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03900" y="2882106"/>
            <a:ext cx="1007709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CR-002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3351808"/>
            <a:ext cx="10868745" cy="9359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0064" y="3697684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03900" y="3501033"/>
            <a:ext cx="1007709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Reason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03900" y="3766046"/>
            <a:ext cx="10077099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Schedule Delay: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Late D2 start (data gaps, vendor onboarding). D3 single-threaded, zero-slack critical path. M2/M3 delayed 2-3 months; M4 at risk.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| Cost Overrun: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D2/D3 specialist effort + extended procurement. Within USD 11.5M CAPEX / USD 27.5M TCO envelope but unsustainable trajectory.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4390231"/>
            <a:ext cx="10868745" cy="11221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064" y="4829175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303900" y="4539456"/>
            <a:ext cx="1007709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 Summary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303900" y="4804470"/>
            <a:ext cx="10077099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Schedule: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M0/M1 closed. M2/M3 red (2-3 month delay). M4 amber/at risk.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| Cost: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Specialist labor + procurement overrun. Within envelope but trajectory unsustainable.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| Risk: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Compressed recovery increases D2/D3 execution risk. Vendor dependencies critical. </a:t>
            </a: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| Benefit: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Delayed value realization. KPI/NPV protection requires accelerated D2/D3 recovery.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61475" y="5614888"/>
            <a:ext cx="10868745" cy="78144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0064" y="5883473"/>
            <a:ext cx="195357" cy="2441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kern="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303900" y="5764113"/>
            <a:ext cx="1007709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Decision Authority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303900" y="6029127"/>
            <a:ext cx="10077099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FOR Change Control Board (CCB)/Board of Governors (BOG) DECISION.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205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Request CR-002 Is Evidenced — Not Assumed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52749"/>
            <a:ext cx="4669018" cy="1445121"/>
          </a:xfrm>
          <a:prstGeom prst="roundRect">
            <a:avLst>
              <a:gd name="adj" fmla="val 17167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324398"/>
            <a:ext cx="43257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Schedule Performance Index (SPI)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2748161"/>
            <a:ext cx="4325730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0.80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32F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Below Target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763169"/>
            <a:ext cx="4669018" cy="1445121"/>
          </a:xfrm>
          <a:prstGeom prst="roundRect">
            <a:avLst>
              <a:gd name="adj" fmla="val 17167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3119" y="3934817"/>
            <a:ext cx="43257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Cost Performance Index (CPI)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4358580"/>
            <a:ext cx="4325730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0.89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32F2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Below Target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40256" y="2152749"/>
            <a:ext cx="5796214" cy="1966615"/>
          </a:xfrm>
          <a:prstGeom prst="roundRect">
            <a:avLst>
              <a:gd name="adj" fmla="val 12615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4600" y="2337098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CR-002 DOES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24600" y="2760861"/>
            <a:ext cx="5427527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Release DEC-02 Funding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Authorize Controlled Rebaseline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✓ Protect Key Performance Indicator (KPI)/Net Present Value (NPV) Timeline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40256" y="4284663"/>
            <a:ext cx="5796214" cy="1701998"/>
          </a:xfrm>
          <a:prstGeom prst="roundRect">
            <a:avLst>
              <a:gd name="adj" fmla="val 14576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4600" y="4469011"/>
            <a:ext cx="54275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CR-002 DOES NOT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24600" y="4892774"/>
            <a:ext cx="5427527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✗ Add Scope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✗ Change Deliverables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✗ Modify Deliverables 1-7 (D1-D7)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927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kern="0" spc="-2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Three Possible Outcomes — One Must Be Recorded Today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53703"/>
            <a:ext cx="10868745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Change Control Board (CCB) and Board of Governors (BOG) must record a formal decision on Change Request CR-002 (CR-002) today. Under Pole Trust Bank Change Policy (PTB-CHG-001), there are exactly three valid outcomes. There is no fourth option. Failure to decide is itself a decision and will be recorded as such.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211" y="1459706"/>
            <a:ext cx="7485173" cy="36797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15898" y="1796120"/>
            <a:ext cx="1711817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Deferred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15898" y="2070969"/>
            <a:ext cx="3461674" cy="14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Postpone decision today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015898" y="2655854"/>
            <a:ext cx="1711817" cy="2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Rejected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15898" y="2930703"/>
            <a:ext cx="3461674" cy="14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Deny the change request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15898" y="3515588"/>
            <a:ext cx="1711817" cy="21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Approved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15898" y="3790436"/>
            <a:ext cx="3461674" cy="14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 Change Request CR-002 (CR-002) as-is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23506" y="4375322"/>
            <a:ext cx="1711816" cy="21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23506" y="4650170"/>
            <a:ext cx="3461673" cy="145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Begin decision process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1475" y="5230515"/>
            <a:ext cx="3568908" cy="637381"/>
          </a:xfrm>
          <a:prstGeom prst="roundRect">
            <a:avLst>
              <a:gd name="adj" fmla="val 27246"/>
            </a:avLst>
          </a:prstGeom>
          <a:solidFill>
            <a:srgbClr val="1E8449">
              <a:alpha val="50000"/>
            </a:srgbClr>
          </a:solidFill>
          <a:ln w="6350">
            <a:solidFill>
              <a:srgbClr val="379D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511" y="5352554"/>
            <a:ext cx="332483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✓ APPROVED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3511" y="5582047"/>
            <a:ext cx="332483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Enters the baseline.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11344" y="5230515"/>
            <a:ext cx="3568908" cy="637381"/>
          </a:xfrm>
          <a:prstGeom prst="roundRect">
            <a:avLst>
              <a:gd name="adj" fmla="val 27246"/>
            </a:avLst>
          </a:prstGeom>
          <a:solidFill>
            <a:srgbClr val="C0392B">
              <a:alpha val="50000"/>
            </a:srgbClr>
          </a:solidFill>
          <a:ln w="6350">
            <a:solidFill>
              <a:srgbClr val="D952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3380" y="5352554"/>
            <a:ext cx="332483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✗ REJECTED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433380" y="5582047"/>
            <a:ext cx="332483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Baseline stays unchanged.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61213" y="5230515"/>
            <a:ext cx="3568908" cy="637381"/>
          </a:xfrm>
          <a:prstGeom prst="roundRect">
            <a:avLst>
              <a:gd name="adj" fmla="val 27246"/>
            </a:avLst>
          </a:prstGeom>
          <a:solidFill>
            <a:srgbClr val="D4AC0D">
              <a:alpha val="50000"/>
            </a:srgbClr>
          </a:solidFill>
          <a:ln w="6350">
            <a:solidFill>
              <a:srgbClr val="BA92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83249" y="5352554"/>
            <a:ext cx="3324836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⏸</a:t>
            </a:r>
            <a:r>
              <a:rPr lang="en-US" sz="110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DEFERRED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83249" y="5588397"/>
            <a:ext cx="332483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Postponed to a future review date.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61475" y="5958979"/>
            <a:ext cx="10868745" cy="369094"/>
          </a:xfrm>
          <a:prstGeom prst="roundRect">
            <a:avLst>
              <a:gd name="adj" fmla="val 47051"/>
            </a:avLst>
          </a:prstGeom>
          <a:solidFill>
            <a:srgbClr val="FCF2B5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61" y="6075462"/>
            <a:ext cx="144657" cy="115689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37505" y="6068814"/>
            <a:ext cx="1098661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Governance Imperative:</a:t>
            </a: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Every outcome must be logged. Silence is not neutrality under Pole Trust Bank Change Policy (PTB-CHG-001).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40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Makes a Valid Change Control Baseline?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6144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23380"/>
            <a:ext cx="5351725" cy="1905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244130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Written Change Form with Unique 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60181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186144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123380"/>
            <a:ext cx="5351725" cy="1905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2244130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Reason Stated Clearly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8495" y="260181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31557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417689"/>
            <a:ext cx="5351725" cy="1905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538438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Impact Verified Across All 5 Dimensions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3896122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315575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3417689"/>
            <a:ext cx="5351725" cy="1905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495" y="3538438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Justification Grounded in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3896122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COMPLETE 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445006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711998"/>
            <a:ext cx="5351725" cy="1905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832747"/>
            <a:ext cx="535172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Change Control Board (CCB) Decision Formally Recorded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5448895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PENDING </a:t>
            </a: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⏳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8495" y="445006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8495" y="4711998"/>
            <a:ext cx="5351725" cy="1905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25" name="Text 23"/>
          <p:cNvSpPr/>
          <p:nvPr/>
        </p:nvSpPr>
        <p:spPr>
          <a:xfrm>
            <a:off x="6178495" y="483274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All Items Logged in the Change Log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8495" y="5190430"/>
            <a:ext cx="5351725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PROGRESS </a:t>
            </a: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⏳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796</Words>
  <Application>Microsoft Office PowerPoint</Application>
  <PresentationFormat>Widescreen</PresentationFormat>
  <Paragraphs>100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Twemoji Mozilla</vt:lpstr>
      <vt:lpstr>Arial</vt:lpstr>
      <vt:lpstr>Alexandria Medium</vt:lpstr>
      <vt:lpstr>Alexandria Light</vt:lpstr>
      <vt:lpstr>Manrope</vt:lpstr>
      <vt:lpstr>Manrope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HAROON TRADERS</cp:lastModifiedBy>
  <cp:revision>3</cp:revision>
  <dcterms:created xsi:type="dcterms:W3CDTF">2026-08-22T12:53:35Z</dcterms:created>
  <dcterms:modified xsi:type="dcterms:W3CDTF">2026-08-22T12:54:48Z</dcterms:modified>
</cp:coreProperties>
</file>